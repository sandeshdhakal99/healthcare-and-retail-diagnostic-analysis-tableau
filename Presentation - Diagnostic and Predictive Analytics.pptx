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6" r:id="rId10"/>
    <p:sldId id="267" r:id="rId11"/>
    <p:sldId id="268" r:id="rId12"/>
    <p:sldId id="269" r:id="rId13"/>
    <p:sldId id="263" r:id="rId14"/>
    <p:sldId id="270" r:id="rId15"/>
    <p:sldId id="271" r:id="rId16"/>
    <p:sldId id="272" r:id="rId17"/>
    <p:sldId id="273" r:id="rId18"/>
    <p:sldId id="274" r:id="rId19"/>
    <p:sldId id="261" r:id="rId20"/>
    <p:sldId id="262" r:id="rId21"/>
    <p:sldId id="275" r:id="rId22"/>
    <p:sldId id="264" r:id="rId23"/>
    <p:sldId id="265" r:id="rId24"/>
  </p:sldIdLst>
  <p:sldSz cx="18288000" cy="10287000"/>
  <p:notesSz cx="6858000" cy="9144000"/>
  <p:embeddedFontLst>
    <p:embeddedFont>
      <p:font typeface="Fira Sans" panose="020B0503050000020004" pitchFamily="34" charset="0"/>
      <p:regular r:id="rId26"/>
      <p:bold r:id="rId27"/>
      <p:italic r:id="rId28"/>
      <p:boldItalic r:id="rId29"/>
    </p:embeddedFont>
    <p:embeddedFont>
      <p:font typeface="Fira Sans Medium" panose="020B0603050000020004" pitchFamily="34" charset="0"/>
      <p:regular r:id="rId30"/>
      <p:italic r:id="rId31"/>
    </p:embeddedFont>
    <p:embeddedFont>
      <p:font typeface="Fira Sans Semi-Bold" panose="020B0604020202020204" charset="0"/>
      <p:regular r:id="rId32"/>
    </p:embeddedFont>
    <p:embeddedFont>
      <p:font typeface="Poppins" panose="00000500000000000000" pitchFamily="2" charset="0"/>
      <p:regular r:id="rId33"/>
      <p:bold r:id="rId34"/>
      <p:italic r:id="rId35"/>
      <p:boldItalic r:id="rId36"/>
    </p:embeddedFont>
    <p:embeddedFont>
      <p:font typeface="Poppins Bold" panose="00000800000000000000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9D0A6-FBDF-4797-89FC-258D65BC8348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6D7A0-630C-4620-8F33-5ED1173FD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6D7A0-630C-4620-8F33-5ED1173FDC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09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5C6D3-121B-4A10-84B2-40B053496C9A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3615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svg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1.svg"/><Relationship Id="rId5" Type="http://schemas.openxmlformats.org/officeDocument/2006/relationships/image" Target="../media/image9.jpeg"/><Relationship Id="rId10" Type="http://schemas.openxmlformats.org/officeDocument/2006/relationships/image" Target="../media/image10.png"/><Relationship Id="rId4" Type="http://schemas.openxmlformats.org/officeDocument/2006/relationships/image" Target="../media/image8.jpe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20585" y="3039074"/>
            <a:ext cx="1953286" cy="1953286"/>
          </a:xfrm>
          <a:custGeom>
            <a:avLst/>
            <a:gdLst/>
            <a:ahLst/>
            <a:cxnLst/>
            <a:rect l="l" t="t" r="r" b="b"/>
            <a:pathLst>
              <a:path w="1953286" h="1953286">
                <a:moveTo>
                  <a:pt x="0" y="0"/>
                </a:moveTo>
                <a:lnTo>
                  <a:pt x="1953286" y="0"/>
                </a:lnTo>
                <a:lnTo>
                  <a:pt x="1953286" y="1953286"/>
                </a:lnTo>
                <a:lnTo>
                  <a:pt x="0" y="1953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087824" y="-3516505"/>
            <a:ext cx="10544088" cy="10809721"/>
            <a:chOff x="0" y="0"/>
            <a:chExt cx="812800" cy="8332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33276"/>
            </a:xfrm>
            <a:custGeom>
              <a:avLst/>
              <a:gdLst/>
              <a:ahLst/>
              <a:cxnLst/>
              <a:rect l="l" t="t" r="r" b="b"/>
              <a:pathLst>
                <a:path w="812800" h="833276">
                  <a:moveTo>
                    <a:pt x="406400" y="0"/>
                  </a:moveTo>
                  <a:cubicBezTo>
                    <a:pt x="181951" y="0"/>
                    <a:pt x="0" y="186535"/>
                    <a:pt x="0" y="416638"/>
                  </a:cubicBezTo>
                  <a:cubicBezTo>
                    <a:pt x="0" y="646741"/>
                    <a:pt x="181951" y="833276"/>
                    <a:pt x="406400" y="833276"/>
                  </a:cubicBezTo>
                  <a:cubicBezTo>
                    <a:pt x="630849" y="833276"/>
                    <a:pt x="812800" y="646741"/>
                    <a:pt x="812800" y="416638"/>
                  </a:cubicBezTo>
                  <a:cubicBezTo>
                    <a:pt x="812800" y="18653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F2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0020"/>
              <a:ext cx="660400" cy="715137"/>
            </a:xfrm>
            <a:prstGeom prst="rect">
              <a:avLst/>
            </a:prstGeom>
          </p:spPr>
          <p:txBody>
            <a:bodyPr lIns="358962" tIns="358962" rIns="358962" bIns="35896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254841" y="4118678"/>
            <a:ext cx="7252893" cy="7252893"/>
            <a:chOff x="82830" y="298588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82830" y="298588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5042" r="-1505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737322" y="1185063"/>
            <a:ext cx="599292" cy="623083"/>
          </a:xfrm>
          <a:custGeom>
            <a:avLst/>
            <a:gdLst/>
            <a:ahLst/>
            <a:cxnLst/>
            <a:rect l="l" t="t" r="r" b="b"/>
            <a:pathLst>
              <a:path w="599292" h="623083">
                <a:moveTo>
                  <a:pt x="0" y="0"/>
                </a:moveTo>
                <a:lnTo>
                  <a:pt x="599292" y="0"/>
                </a:lnTo>
                <a:lnTo>
                  <a:pt x="599292" y="623083"/>
                </a:lnTo>
                <a:lnTo>
                  <a:pt x="0" y="623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35687" y="2870678"/>
            <a:ext cx="13080313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 Diagnostic and Predictive Analysis.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5687" y="1579929"/>
            <a:ext cx="7606214" cy="1364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2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84AAD8"/>
                </a:solidFill>
                <a:latin typeface="Poppins Bold"/>
                <a:ea typeface="Poppins Bold"/>
                <a:cs typeface="Poppins Bold"/>
                <a:sym typeface="Poppins Bold"/>
              </a:rPr>
              <a:t>Case Study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510456" y="8731479"/>
            <a:ext cx="748844" cy="748844"/>
          </a:xfrm>
          <a:custGeom>
            <a:avLst/>
            <a:gdLst/>
            <a:ahLst/>
            <a:cxnLst/>
            <a:rect l="l" t="t" r="r" b="b"/>
            <a:pathLst>
              <a:path w="748844" h="748844">
                <a:moveTo>
                  <a:pt x="0" y="0"/>
                </a:moveTo>
                <a:lnTo>
                  <a:pt x="748844" y="0"/>
                </a:lnTo>
                <a:lnTo>
                  <a:pt x="748844" y="748843"/>
                </a:lnTo>
                <a:lnTo>
                  <a:pt x="0" y="7488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759718" y="656364"/>
            <a:ext cx="685750" cy="685750"/>
          </a:xfrm>
          <a:custGeom>
            <a:avLst/>
            <a:gdLst/>
            <a:ahLst/>
            <a:cxnLst/>
            <a:rect l="l" t="t" r="r" b="b"/>
            <a:pathLst>
              <a:path w="685750" h="685750">
                <a:moveTo>
                  <a:pt x="0" y="0"/>
                </a:moveTo>
                <a:lnTo>
                  <a:pt x="685750" y="0"/>
                </a:lnTo>
                <a:lnTo>
                  <a:pt x="685750" y="685750"/>
                </a:lnTo>
                <a:lnTo>
                  <a:pt x="0" y="6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362328" y="1126311"/>
            <a:ext cx="740589" cy="740589"/>
          </a:xfrm>
          <a:custGeom>
            <a:avLst/>
            <a:gdLst/>
            <a:ahLst/>
            <a:cxnLst/>
            <a:rect l="l" t="t" r="r" b="b"/>
            <a:pathLst>
              <a:path w="740589" h="740589">
                <a:moveTo>
                  <a:pt x="0" y="0"/>
                </a:moveTo>
                <a:lnTo>
                  <a:pt x="740589" y="0"/>
                </a:lnTo>
                <a:lnTo>
                  <a:pt x="740589" y="740589"/>
                </a:lnTo>
                <a:lnTo>
                  <a:pt x="0" y="7405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EA1E24-E30E-C908-0946-D07DB48A9E83}"/>
              </a:ext>
            </a:extLst>
          </p:cNvPr>
          <p:cNvSpPr txBox="1"/>
          <p:nvPr/>
        </p:nvSpPr>
        <p:spPr>
          <a:xfrm>
            <a:off x="525860" y="6055680"/>
            <a:ext cx="85164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Dhakal Sandesh - NF1007629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Professor - </a:t>
            </a:r>
            <a:r>
              <a:rPr lang="en-US" sz="3600" b="1" dirty="0"/>
              <a:t>Ahmed </a:t>
            </a:r>
            <a:r>
              <a:rPr lang="en-US" sz="3600" b="1" dirty="0" err="1"/>
              <a:t>Eltahawi</a:t>
            </a:r>
            <a:endParaRPr lang="en-US" sz="3600" b="1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3240" y="219449"/>
            <a:ext cx="599292" cy="623083"/>
          </a:xfrm>
          <a:custGeom>
            <a:avLst/>
            <a:gdLst/>
            <a:ahLst/>
            <a:cxnLst/>
            <a:rect l="l" t="t" r="r" b="b"/>
            <a:pathLst>
              <a:path w="599292" h="623083">
                <a:moveTo>
                  <a:pt x="0" y="0"/>
                </a:moveTo>
                <a:lnTo>
                  <a:pt x="599292" y="0"/>
                </a:lnTo>
                <a:lnTo>
                  <a:pt x="599292" y="623083"/>
                </a:lnTo>
                <a:lnTo>
                  <a:pt x="0" y="623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0" y="2400900"/>
            <a:ext cx="4174699" cy="7886100"/>
            <a:chOff x="0" y="0"/>
            <a:chExt cx="646770" cy="12217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6770" cy="1221763"/>
            </a:xfrm>
            <a:custGeom>
              <a:avLst/>
              <a:gdLst/>
              <a:ahLst/>
              <a:cxnLst/>
              <a:rect l="l" t="t" r="r" b="b"/>
              <a:pathLst>
                <a:path w="646770" h="1221763">
                  <a:moveTo>
                    <a:pt x="215707" y="19070"/>
                  </a:moveTo>
                  <a:cubicBezTo>
                    <a:pt x="248758" y="7556"/>
                    <a:pt x="286561" y="0"/>
                    <a:pt x="323559" y="0"/>
                  </a:cubicBezTo>
                  <a:cubicBezTo>
                    <a:pt x="360558" y="0"/>
                    <a:pt x="396160" y="6476"/>
                    <a:pt x="428969" y="17990"/>
                  </a:cubicBezTo>
                  <a:cubicBezTo>
                    <a:pt x="429668" y="18350"/>
                    <a:pt x="430366" y="18350"/>
                    <a:pt x="431064" y="18710"/>
                  </a:cubicBezTo>
                  <a:cubicBezTo>
                    <a:pt x="554275" y="64765"/>
                    <a:pt x="645025" y="186379"/>
                    <a:pt x="646770" y="337586"/>
                  </a:cubicBezTo>
                  <a:lnTo>
                    <a:pt x="646770" y="1221763"/>
                  </a:lnTo>
                  <a:lnTo>
                    <a:pt x="0" y="1221763"/>
                  </a:lnTo>
                  <a:lnTo>
                    <a:pt x="0" y="338242"/>
                  </a:lnTo>
                  <a:cubicBezTo>
                    <a:pt x="1745" y="185660"/>
                    <a:pt x="91099" y="64045"/>
                    <a:pt x="215707" y="19070"/>
                  </a:cubicBezTo>
                  <a:close/>
                </a:path>
              </a:pathLst>
            </a:custGeom>
            <a:blipFill>
              <a:blip r:embed="rId4"/>
              <a:stretch>
                <a:fillRect l="-91765" r="-91765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213567" y="0"/>
            <a:ext cx="4174699" cy="6920619"/>
            <a:chOff x="1227761" y="0"/>
            <a:chExt cx="646770" cy="1072185"/>
          </a:xfrm>
        </p:grpSpPr>
        <p:sp>
          <p:nvSpPr>
            <p:cNvPr id="8" name="Freeform 8"/>
            <p:cNvSpPr/>
            <p:nvPr/>
          </p:nvSpPr>
          <p:spPr>
            <a:xfrm>
              <a:off x="1227761" y="0"/>
              <a:ext cx="646770" cy="1072185"/>
            </a:xfrm>
            <a:custGeom>
              <a:avLst/>
              <a:gdLst/>
              <a:ahLst/>
              <a:cxnLst/>
              <a:rect l="l" t="t" r="r" b="b"/>
              <a:pathLst>
                <a:path w="646770" h="1072185">
                  <a:moveTo>
                    <a:pt x="215707" y="1053116"/>
                  </a:moveTo>
                  <a:cubicBezTo>
                    <a:pt x="248865" y="1064630"/>
                    <a:pt x="286561" y="1072185"/>
                    <a:pt x="323559" y="1072185"/>
                  </a:cubicBezTo>
                  <a:cubicBezTo>
                    <a:pt x="360558" y="1072185"/>
                    <a:pt x="396160" y="1065708"/>
                    <a:pt x="428969" y="1054194"/>
                  </a:cubicBezTo>
                  <a:cubicBezTo>
                    <a:pt x="429668" y="1053835"/>
                    <a:pt x="430366" y="1053835"/>
                    <a:pt x="431064" y="1053475"/>
                  </a:cubicBezTo>
                  <a:cubicBezTo>
                    <a:pt x="554275" y="1007420"/>
                    <a:pt x="645025" y="885806"/>
                    <a:pt x="646770" y="737921"/>
                  </a:cubicBezTo>
                  <a:lnTo>
                    <a:pt x="646770" y="0"/>
                  </a:lnTo>
                  <a:lnTo>
                    <a:pt x="0" y="0"/>
                  </a:lnTo>
                  <a:lnTo>
                    <a:pt x="0" y="737374"/>
                  </a:lnTo>
                  <a:cubicBezTo>
                    <a:pt x="1745" y="886525"/>
                    <a:pt x="91099" y="1008140"/>
                    <a:pt x="215707" y="1053116"/>
                  </a:cubicBezTo>
                  <a:close/>
                </a:path>
              </a:pathLst>
            </a:custGeom>
            <a:blipFill>
              <a:blip r:embed="rId5"/>
              <a:stretch>
                <a:fillRect l="-41254" r="-107563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428540" y="2247900"/>
            <a:ext cx="8024412" cy="65694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r>
              <a:rPr lang="en-US" sz="3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Conduct descriptive analysis of patient health data.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Dataset</a:t>
            </a:r>
            <a:r>
              <a:rPr lang="en-US" sz="3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includes demographics, conditions, admissions, billing, insurance, and test results.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Goal</a:t>
            </a:r>
            <a:r>
              <a:rPr lang="en-US" sz="3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Identify trends, outcomes, and financial insights for better healthcare decision-making.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894296" y="5143500"/>
            <a:ext cx="1493970" cy="1493970"/>
          </a:xfrm>
          <a:custGeom>
            <a:avLst/>
            <a:gdLst/>
            <a:ahLst/>
            <a:cxnLst/>
            <a:rect l="l" t="t" r="r" b="b"/>
            <a:pathLst>
              <a:path w="1493970" h="1493970">
                <a:moveTo>
                  <a:pt x="0" y="0"/>
                </a:moveTo>
                <a:lnTo>
                  <a:pt x="1493971" y="0"/>
                </a:lnTo>
                <a:lnTo>
                  <a:pt x="1493971" y="1493970"/>
                </a:lnTo>
                <a:lnTo>
                  <a:pt x="0" y="14939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543545" y="1028700"/>
            <a:ext cx="748844" cy="748844"/>
          </a:xfrm>
          <a:custGeom>
            <a:avLst/>
            <a:gdLst/>
            <a:ahLst/>
            <a:cxnLst/>
            <a:rect l="l" t="t" r="r" b="b"/>
            <a:pathLst>
              <a:path w="748844" h="748844">
                <a:moveTo>
                  <a:pt x="0" y="0"/>
                </a:moveTo>
                <a:lnTo>
                  <a:pt x="748843" y="0"/>
                </a:lnTo>
                <a:lnTo>
                  <a:pt x="748843" y="748844"/>
                </a:lnTo>
                <a:lnTo>
                  <a:pt x="0" y="748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7073132" y="656364"/>
            <a:ext cx="372336" cy="372336"/>
          </a:xfrm>
          <a:custGeom>
            <a:avLst/>
            <a:gdLst/>
            <a:ahLst/>
            <a:cxnLst/>
            <a:rect l="l" t="t" r="r" b="b"/>
            <a:pathLst>
              <a:path w="372336" h="372336">
                <a:moveTo>
                  <a:pt x="0" y="0"/>
                </a:moveTo>
                <a:lnTo>
                  <a:pt x="372336" y="0"/>
                </a:lnTo>
                <a:lnTo>
                  <a:pt x="372336" y="372336"/>
                </a:lnTo>
                <a:lnTo>
                  <a:pt x="0" y="3723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9440746" y="6149626"/>
            <a:ext cx="433516" cy="514976"/>
          </a:xfrm>
          <a:custGeom>
            <a:avLst/>
            <a:gdLst/>
            <a:ahLst/>
            <a:cxnLst/>
            <a:rect l="l" t="t" r="r" b="b"/>
            <a:pathLst>
              <a:path w="433516" h="514976">
                <a:moveTo>
                  <a:pt x="0" y="0"/>
                </a:moveTo>
                <a:lnTo>
                  <a:pt x="433517" y="0"/>
                </a:lnTo>
                <a:lnTo>
                  <a:pt x="433517" y="514976"/>
                </a:lnTo>
                <a:lnTo>
                  <a:pt x="0" y="514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956203" y="105370"/>
            <a:ext cx="6599751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dirty="0">
                <a:solidFill>
                  <a:srgbClr val="84AAD8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4"/>
          <p:cNvSpPr/>
          <p:nvPr/>
        </p:nvSpPr>
        <p:spPr>
          <a:xfrm>
            <a:off x="17064722" y="6139734"/>
            <a:ext cx="1576303" cy="1576303"/>
          </a:xfrm>
          <a:custGeom>
            <a:avLst/>
            <a:gdLst/>
            <a:ahLst/>
            <a:cxnLst/>
            <a:rect l="l" t="t" r="r" b="b"/>
            <a:pathLst>
              <a:path w="1576303" h="1576303">
                <a:moveTo>
                  <a:pt x="0" y="0"/>
                </a:moveTo>
                <a:lnTo>
                  <a:pt x="1576303" y="0"/>
                </a:lnTo>
                <a:lnTo>
                  <a:pt x="1576303" y="1576304"/>
                </a:lnTo>
                <a:lnTo>
                  <a:pt x="0" y="1576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5697200" y="1925697"/>
            <a:ext cx="896972" cy="896972"/>
          </a:xfrm>
          <a:custGeom>
            <a:avLst/>
            <a:gdLst/>
            <a:ahLst/>
            <a:cxnLst/>
            <a:rect l="l" t="t" r="r" b="b"/>
            <a:pathLst>
              <a:path w="896972" h="896972">
                <a:moveTo>
                  <a:pt x="0" y="0"/>
                </a:moveTo>
                <a:lnTo>
                  <a:pt x="896972" y="0"/>
                </a:lnTo>
                <a:lnTo>
                  <a:pt x="896972" y="896972"/>
                </a:lnTo>
                <a:lnTo>
                  <a:pt x="0" y="896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3364960" y="5850116"/>
            <a:ext cx="199097" cy="277611"/>
          </a:xfrm>
          <a:custGeom>
            <a:avLst/>
            <a:gdLst/>
            <a:ahLst/>
            <a:cxnLst/>
            <a:rect l="l" t="t" r="r" b="b"/>
            <a:pathLst>
              <a:path w="199097" h="277611">
                <a:moveTo>
                  <a:pt x="0" y="0"/>
                </a:moveTo>
                <a:lnTo>
                  <a:pt x="199097" y="0"/>
                </a:lnTo>
                <a:lnTo>
                  <a:pt x="199097" y="277611"/>
                </a:lnTo>
                <a:lnTo>
                  <a:pt x="0" y="2776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52400" y="0"/>
            <a:ext cx="19354800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54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Demographic Distribution (Gender &amp; Blood Type)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39200" y="3086100"/>
            <a:ext cx="8382000" cy="6401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Insights:</a:t>
            </a:r>
          </a:p>
          <a:p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dataset is well balanced across gender and blood type, reducing risk of bias in further analysis.</a:t>
            </a:r>
          </a:p>
          <a:p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demographic spread helps ensure that any findings (e.g., condition prevalence, test result outcomes) can be compared fairly across groups.</a:t>
            </a:r>
          </a:p>
          <a:p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Healthcare professionals can use this baseline to design interventions without overrepresenting or underrepresenting any blood group.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59EDF9C-34F7-33DD-6820-498E613C05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7486"/>
          <a:stretch>
            <a:fillRect/>
          </a:stretch>
        </p:blipFill>
        <p:spPr>
          <a:xfrm>
            <a:off x="762000" y="2374183"/>
            <a:ext cx="7162800" cy="722947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59EDF9C-34F7-33DD-6820-498E613C05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6592" b="84427"/>
          <a:stretch>
            <a:fillRect/>
          </a:stretch>
        </p:blipFill>
        <p:spPr>
          <a:xfrm>
            <a:off x="8054340" y="1322314"/>
            <a:ext cx="1828800" cy="11258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39215" y="1368962"/>
            <a:ext cx="6569296" cy="656929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F2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4388" tIns="334388" rIns="334388" bIns="334388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53563"/>
            <a:ext cx="18388464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5400" b="1" dirty="0">
                <a:solidFill>
                  <a:srgbClr val="84AAD8"/>
                </a:solidFill>
                <a:latin typeface="Poppins Bold"/>
                <a:ea typeface="Poppins Bold"/>
                <a:cs typeface="Poppins Bold"/>
                <a:sym typeface="Poppins Bold"/>
              </a:rPr>
              <a:t>Medical Conditions and Test Result Distribution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4438" y="2244272"/>
            <a:ext cx="6803087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Observations:</a:t>
            </a:r>
          </a:p>
          <a:p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Arthritis &amp; Cancer → Slightly higher share of abnormal results compared to normal.</a:t>
            </a:r>
          </a:p>
          <a:p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Asthma → Noticeable increase in normal results (3,147) compared to abnormal and inconclusive.</a:t>
            </a:r>
          </a:p>
          <a:p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Diabetes &amp; Hypertension → Balanced distribution across the three test outcomes, but normal results edge slightly higher.</a:t>
            </a:r>
          </a:p>
          <a:p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Obesity → Shows relatively even spread, with abnormal cases (3,132) slightly higher than normal (3,057).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7065743" y="6969938"/>
            <a:ext cx="1576303" cy="1576303"/>
          </a:xfrm>
          <a:custGeom>
            <a:avLst/>
            <a:gdLst/>
            <a:ahLst/>
            <a:cxnLst/>
            <a:rect l="l" t="t" r="r" b="b"/>
            <a:pathLst>
              <a:path w="1576303" h="1576303">
                <a:moveTo>
                  <a:pt x="0" y="0"/>
                </a:moveTo>
                <a:lnTo>
                  <a:pt x="1576303" y="0"/>
                </a:lnTo>
                <a:lnTo>
                  <a:pt x="1576303" y="1576303"/>
                </a:lnTo>
                <a:lnTo>
                  <a:pt x="0" y="1576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8457376" y="1653656"/>
            <a:ext cx="1135110" cy="1135110"/>
          </a:xfrm>
          <a:custGeom>
            <a:avLst/>
            <a:gdLst/>
            <a:ahLst/>
            <a:cxnLst/>
            <a:rect l="l" t="t" r="r" b="b"/>
            <a:pathLst>
              <a:path w="1135110" h="1135110">
                <a:moveTo>
                  <a:pt x="0" y="0"/>
                </a:moveTo>
                <a:lnTo>
                  <a:pt x="1135110" y="0"/>
                </a:lnTo>
                <a:lnTo>
                  <a:pt x="1135110" y="1135110"/>
                </a:lnTo>
                <a:lnTo>
                  <a:pt x="0" y="113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3635981" y="1686840"/>
            <a:ext cx="736138" cy="736138"/>
          </a:xfrm>
          <a:custGeom>
            <a:avLst/>
            <a:gdLst/>
            <a:ahLst/>
            <a:cxnLst/>
            <a:rect l="l" t="t" r="r" b="b"/>
            <a:pathLst>
              <a:path w="736138" h="736138">
                <a:moveTo>
                  <a:pt x="0" y="0"/>
                </a:moveTo>
                <a:lnTo>
                  <a:pt x="736138" y="0"/>
                </a:lnTo>
                <a:lnTo>
                  <a:pt x="736138" y="736138"/>
                </a:lnTo>
                <a:lnTo>
                  <a:pt x="0" y="736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BF73A3-7D44-0156-8AAC-CAB8ACC22FB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r="17255"/>
          <a:stretch>
            <a:fillRect/>
          </a:stretch>
        </p:blipFill>
        <p:spPr>
          <a:xfrm>
            <a:off x="6843645" y="1270985"/>
            <a:ext cx="11412400" cy="72961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459B54F-9473-4359-E51E-A9FE587206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5936" b="87287"/>
          <a:stretch>
            <a:fillRect/>
          </a:stretch>
        </p:blipFill>
        <p:spPr>
          <a:xfrm>
            <a:off x="16096574" y="8707580"/>
            <a:ext cx="1938337" cy="9275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189466" y="25981"/>
            <a:ext cx="1458645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6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Admissions Over Time by Condition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16904920" y="3427122"/>
            <a:ext cx="1576303" cy="1576303"/>
          </a:xfrm>
          <a:custGeom>
            <a:avLst/>
            <a:gdLst/>
            <a:ahLst/>
            <a:cxnLst/>
            <a:rect l="l" t="t" r="r" b="b"/>
            <a:pathLst>
              <a:path w="1576303" h="1576303">
                <a:moveTo>
                  <a:pt x="0" y="0"/>
                </a:moveTo>
                <a:lnTo>
                  <a:pt x="1576303" y="0"/>
                </a:lnTo>
                <a:lnTo>
                  <a:pt x="1576303" y="1576304"/>
                </a:lnTo>
                <a:lnTo>
                  <a:pt x="0" y="1576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0619864" y="1113564"/>
            <a:ext cx="788152" cy="788152"/>
          </a:xfrm>
          <a:custGeom>
            <a:avLst/>
            <a:gdLst/>
            <a:ahLst/>
            <a:cxnLst/>
            <a:rect l="l" t="t" r="r" b="b"/>
            <a:pathLst>
              <a:path w="788152" h="788152">
                <a:moveTo>
                  <a:pt x="0" y="0"/>
                </a:moveTo>
                <a:lnTo>
                  <a:pt x="788152" y="0"/>
                </a:lnTo>
                <a:lnTo>
                  <a:pt x="788152" y="788151"/>
                </a:lnTo>
                <a:lnTo>
                  <a:pt x="0" y="788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5316200" y="550672"/>
            <a:ext cx="1375112" cy="1351044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2FC15028-80E3-7189-C6B6-323BC0333C42}"/>
              </a:ext>
            </a:extLst>
          </p:cNvPr>
          <p:cNvSpPr txBox="1"/>
          <p:nvPr/>
        </p:nvSpPr>
        <p:spPr>
          <a:xfrm>
            <a:off x="234438" y="2244272"/>
            <a:ext cx="6803087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Observations:</a:t>
            </a:r>
          </a:p>
          <a:p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2020 Peak: Suggests a surge in admissions, possibly linked to wider healthcare events (pandemic or data expansion).</a:t>
            </a:r>
          </a:p>
          <a:p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2021–2023 Stability: Admissions maintained high levels, showing consistent patient inflows.</a:t>
            </a:r>
          </a:p>
          <a:p>
            <a:endParaRPr lang="en-US" sz="2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2024 Drop: Significant reduction across all conditions, indicating either improved preventive care, reduced reporting, or external disruptions.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AF7B1AF-920E-0915-F8AD-3D9DE7954D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4641"/>
          <a:stretch>
            <a:fillRect/>
          </a:stretch>
        </p:blipFill>
        <p:spPr>
          <a:xfrm>
            <a:off x="7037525" y="2065969"/>
            <a:ext cx="11250475" cy="698148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ED56EC3-3A1D-35C5-492E-DCCA2B521B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5359" b="78162"/>
          <a:stretch>
            <a:fillRect/>
          </a:stretch>
        </p:blipFill>
        <p:spPr>
          <a:xfrm>
            <a:off x="15087600" y="341296"/>
            <a:ext cx="2019300" cy="15954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935C8-AB33-580D-EF4F-8B9A6D5B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214A9D-092E-6110-59D5-E76EDC208572}"/>
              </a:ext>
            </a:extLst>
          </p:cNvPr>
          <p:cNvGrpSpPr/>
          <p:nvPr/>
        </p:nvGrpSpPr>
        <p:grpSpPr>
          <a:xfrm>
            <a:off x="10539215" y="1368962"/>
            <a:ext cx="6569296" cy="6569296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BEE4307-635A-F9CE-711B-51A8B0ACE06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F2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B61B4E5-E1C2-E968-00AB-E32C58C6BD3A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334388" tIns="334388" rIns="334388" bIns="334388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8C192040-704E-A7C4-12A7-DC8C426FB94A}"/>
              </a:ext>
            </a:extLst>
          </p:cNvPr>
          <p:cNvSpPr txBox="1"/>
          <p:nvPr/>
        </p:nvSpPr>
        <p:spPr>
          <a:xfrm>
            <a:off x="914400" y="53563"/>
            <a:ext cx="18388464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5400" b="1" dirty="0">
                <a:solidFill>
                  <a:srgbClr val="84AAD8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Financial Insights: Billing by Insurance Provider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D4F828E-9342-6BC5-6140-AB13C4C832A0}"/>
              </a:ext>
            </a:extLst>
          </p:cNvPr>
          <p:cNvSpPr txBox="1"/>
          <p:nvPr/>
        </p:nvSpPr>
        <p:spPr>
          <a:xfrm>
            <a:off x="553778" y="4933261"/>
            <a:ext cx="15807196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Observations:</a:t>
            </a:r>
          </a:p>
          <a:p>
            <a:endParaRPr lang="en-US" sz="2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Highest Billing:</a:t>
            </a:r>
          </a:p>
          <a:p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Obesity →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Cross</a:t>
            </a: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($26,117) recorded the highest average billing.</a:t>
            </a: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Hypertension → Aetna ($25,896) also relatively higher.</a:t>
            </a:r>
          </a:p>
          <a:p>
            <a:endParaRPr lang="en-US" sz="2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Lowest Billing:</a:t>
            </a:r>
          </a:p>
          <a:p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Cancer → UnitedHealthcare ($24,858) and Aetna ($24,923) reported the lowest average amounts.</a:t>
            </a:r>
          </a:p>
          <a:p>
            <a:endParaRPr lang="en-US" sz="2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Consistency:</a:t>
            </a:r>
          </a:p>
          <a:p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Cigna consistently appears at the upper end of billing across multiple conditions.</a:t>
            </a:r>
          </a:p>
          <a:p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Medicare and UnitedHealthcare remain moderately priced, with small variation between conditions.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7B73E5D2-B129-6315-2027-00A8DF9061FF}"/>
              </a:ext>
            </a:extLst>
          </p:cNvPr>
          <p:cNvSpPr/>
          <p:nvPr/>
        </p:nvSpPr>
        <p:spPr>
          <a:xfrm>
            <a:off x="17065743" y="6969938"/>
            <a:ext cx="1576303" cy="1576303"/>
          </a:xfrm>
          <a:custGeom>
            <a:avLst/>
            <a:gdLst/>
            <a:ahLst/>
            <a:cxnLst/>
            <a:rect l="l" t="t" r="r" b="b"/>
            <a:pathLst>
              <a:path w="1576303" h="1576303">
                <a:moveTo>
                  <a:pt x="0" y="0"/>
                </a:moveTo>
                <a:lnTo>
                  <a:pt x="1576303" y="0"/>
                </a:lnTo>
                <a:lnTo>
                  <a:pt x="1576303" y="1576303"/>
                </a:lnTo>
                <a:lnTo>
                  <a:pt x="0" y="1576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2AE57FF0-7F55-8B3E-CDDC-DE4C5196FB4B}"/>
              </a:ext>
            </a:extLst>
          </p:cNvPr>
          <p:cNvSpPr/>
          <p:nvPr/>
        </p:nvSpPr>
        <p:spPr>
          <a:xfrm>
            <a:off x="8457376" y="1653656"/>
            <a:ext cx="1135110" cy="1135110"/>
          </a:xfrm>
          <a:custGeom>
            <a:avLst/>
            <a:gdLst/>
            <a:ahLst/>
            <a:cxnLst/>
            <a:rect l="l" t="t" r="r" b="b"/>
            <a:pathLst>
              <a:path w="1135110" h="1135110">
                <a:moveTo>
                  <a:pt x="0" y="0"/>
                </a:moveTo>
                <a:lnTo>
                  <a:pt x="1135110" y="0"/>
                </a:lnTo>
                <a:lnTo>
                  <a:pt x="1135110" y="1135110"/>
                </a:lnTo>
                <a:lnTo>
                  <a:pt x="0" y="113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76BC92B5-FF90-F824-591F-5C13C1CEA128}"/>
              </a:ext>
            </a:extLst>
          </p:cNvPr>
          <p:cNvSpPr/>
          <p:nvPr/>
        </p:nvSpPr>
        <p:spPr>
          <a:xfrm>
            <a:off x="3635981" y="1686840"/>
            <a:ext cx="736138" cy="736138"/>
          </a:xfrm>
          <a:custGeom>
            <a:avLst/>
            <a:gdLst/>
            <a:ahLst/>
            <a:cxnLst/>
            <a:rect l="l" t="t" r="r" b="b"/>
            <a:pathLst>
              <a:path w="736138" h="736138">
                <a:moveTo>
                  <a:pt x="0" y="0"/>
                </a:moveTo>
                <a:lnTo>
                  <a:pt x="736138" y="0"/>
                </a:lnTo>
                <a:lnTo>
                  <a:pt x="736138" y="736138"/>
                </a:lnTo>
                <a:lnTo>
                  <a:pt x="0" y="736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FF7D70-1B8D-6241-1A8F-97BFE49BE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393" y="1043498"/>
            <a:ext cx="17865213" cy="327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43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97457-62C4-538B-6412-A40D5F8E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92C9AA39-A6D8-31F9-82CF-D297A94A87A4}"/>
              </a:ext>
            </a:extLst>
          </p:cNvPr>
          <p:cNvSpPr txBox="1"/>
          <p:nvPr/>
        </p:nvSpPr>
        <p:spPr>
          <a:xfrm>
            <a:off x="189466" y="25981"/>
            <a:ext cx="1458645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6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Billing vs. Length of Stay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2960F093-06FD-C042-64BB-F730016E9916}"/>
              </a:ext>
            </a:extLst>
          </p:cNvPr>
          <p:cNvSpPr/>
          <p:nvPr/>
        </p:nvSpPr>
        <p:spPr>
          <a:xfrm>
            <a:off x="16904920" y="3427122"/>
            <a:ext cx="1576303" cy="1576303"/>
          </a:xfrm>
          <a:custGeom>
            <a:avLst/>
            <a:gdLst/>
            <a:ahLst/>
            <a:cxnLst/>
            <a:rect l="l" t="t" r="r" b="b"/>
            <a:pathLst>
              <a:path w="1576303" h="1576303">
                <a:moveTo>
                  <a:pt x="0" y="0"/>
                </a:moveTo>
                <a:lnTo>
                  <a:pt x="1576303" y="0"/>
                </a:lnTo>
                <a:lnTo>
                  <a:pt x="1576303" y="1576304"/>
                </a:lnTo>
                <a:lnTo>
                  <a:pt x="0" y="1576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5AB3257F-E563-78C4-3B7A-AC15EDA9183D}"/>
              </a:ext>
            </a:extLst>
          </p:cNvPr>
          <p:cNvSpPr/>
          <p:nvPr/>
        </p:nvSpPr>
        <p:spPr>
          <a:xfrm>
            <a:off x="10619864" y="1113564"/>
            <a:ext cx="788152" cy="788152"/>
          </a:xfrm>
          <a:custGeom>
            <a:avLst/>
            <a:gdLst/>
            <a:ahLst/>
            <a:cxnLst/>
            <a:rect l="l" t="t" r="r" b="b"/>
            <a:pathLst>
              <a:path w="788152" h="788152">
                <a:moveTo>
                  <a:pt x="0" y="0"/>
                </a:moveTo>
                <a:lnTo>
                  <a:pt x="788152" y="0"/>
                </a:lnTo>
                <a:lnTo>
                  <a:pt x="788152" y="788151"/>
                </a:lnTo>
                <a:lnTo>
                  <a:pt x="0" y="788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9FF1042F-35EC-7AA1-B464-BD7FBE269194}"/>
              </a:ext>
            </a:extLst>
          </p:cNvPr>
          <p:cNvSpPr/>
          <p:nvPr/>
        </p:nvSpPr>
        <p:spPr>
          <a:xfrm>
            <a:off x="15316200" y="550672"/>
            <a:ext cx="1375112" cy="1351044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DB61330A-1DA9-5287-C399-63D956589631}"/>
              </a:ext>
            </a:extLst>
          </p:cNvPr>
          <p:cNvSpPr txBox="1"/>
          <p:nvPr/>
        </p:nvSpPr>
        <p:spPr>
          <a:xfrm>
            <a:off x="381000" y="3718452"/>
            <a:ext cx="5715000" cy="5482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alibri (Body)"/>
                <a:ea typeface="Poppins"/>
                <a:cs typeface="Poppins"/>
                <a:sym typeface="Poppins"/>
              </a:rPr>
              <a:t>Cancer → Mixed pattern; some cases have short stays but high billing due to costly treatments, while longer stays also drive up expenses.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alibri (Body)"/>
                <a:ea typeface="Poppins"/>
                <a:cs typeface="Poppins"/>
                <a:sym typeface="Poppins"/>
              </a:rPr>
              <a:t>Diabetes &amp; Hypertension → Spread across short to medium stays (5–20 days), with billing relatively moderate and clustered.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alibri (Body)"/>
                <a:ea typeface="Poppins"/>
                <a:cs typeface="Poppins"/>
                <a:sym typeface="Poppins"/>
              </a:rPr>
              <a:t>Obesity → Fewer data points, but stays vary between short and long durations, with billing amounts sitting near the mid-range.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A4914C-991D-A2A7-DEFC-BFAB161295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3990"/>
          <a:stretch>
            <a:fillRect/>
          </a:stretch>
        </p:blipFill>
        <p:spPr>
          <a:xfrm>
            <a:off x="6400800" y="3088694"/>
            <a:ext cx="11887200" cy="7172325"/>
          </a:xfrm>
          <a:prstGeom prst="rect">
            <a:avLst/>
          </a:prstGeom>
        </p:spPr>
      </p:pic>
      <p:sp>
        <p:nvSpPr>
          <p:cNvPr id="4" name="TextBox 14">
            <a:extLst>
              <a:ext uri="{FF2B5EF4-FFF2-40B4-BE49-F238E27FC236}">
                <a16:creationId xmlns:a16="http://schemas.microsoft.com/office/drawing/2014/main" id="{0916786D-3B94-B3B6-D6E7-5DDF38676F80}"/>
              </a:ext>
            </a:extLst>
          </p:cNvPr>
          <p:cNvSpPr txBox="1"/>
          <p:nvPr/>
        </p:nvSpPr>
        <p:spPr>
          <a:xfrm>
            <a:off x="381000" y="1099348"/>
            <a:ext cx="15087600" cy="1604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Key Observations: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Arthritis → Longer hospital stays (15–30 days) are linked to higher billing amounts, with costs rising steadily.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Asthma → Generally shorter stays (under 15 days) with moderate billing amounts, showing lower financial burden.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23874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C080F-42DE-8A92-93C2-E691CBEF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85CCD566-5FF7-EE86-90CB-720D097F740D}"/>
              </a:ext>
            </a:extLst>
          </p:cNvPr>
          <p:cNvSpPr txBox="1"/>
          <p:nvPr/>
        </p:nvSpPr>
        <p:spPr>
          <a:xfrm>
            <a:off x="914400" y="53563"/>
            <a:ext cx="9651854" cy="1809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5400" b="1" dirty="0">
                <a:solidFill>
                  <a:srgbClr val="84AAD8"/>
                </a:solidFill>
                <a:latin typeface="Poppins Bold"/>
                <a:ea typeface="Poppins Bold"/>
                <a:cs typeface="Poppins Bold"/>
                <a:sym typeface="Poppins Bold"/>
              </a:rPr>
              <a:t>Test Results and Outcomes by Condition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F7356D6-4F7E-2E33-AF86-6DF3F32E38BA}"/>
              </a:ext>
            </a:extLst>
          </p:cNvPr>
          <p:cNvSpPr txBox="1"/>
          <p:nvPr/>
        </p:nvSpPr>
        <p:spPr>
          <a:xfrm>
            <a:off x="492716" y="2520481"/>
            <a:ext cx="10495222" cy="7048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Observations: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Arthritis → Outcomes are evenly distributed: ~1,081 abnormal, 1,016 inconclusive, 986 normal.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Asthma → Similar balance, with normal results (1,057) slightly higher than abnormal (1,036).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Cancer → Almost identical distribution across all three categories (~1,050 each).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Diabetes → Slightly higher abnormal results (1,082), with fewer normal and inconclusive (~983–993).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Hypertension → Shows a tilt towards normal (1,111), slightly higher than abnormal (1,031).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81A664F8-2C02-24C5-88A8-F92F76421AFE}"/>
              </a:ext>
            </a:extLst>
          </p:cNvPr>
          <p:cNvSpPr/>
          <p:nvPr/>
        </p:nvSpPr>
        <p:spPr>
          <a:xfrm>
            <a:off x="17065743" y="6969938"/>
            <a:ext cx="1576303" cy="1576303"/>
          </a:xfrm>
          <a:custGeom>
            <a:avLst/>
            <a:gdLst/>
            <a:ahLst/>
            <a:cxnLst/>
            <a:rect l="l" t="t" r="r" b="b"/>
            <a:pathLst>
              <a:path w="1576303" h="1576303">
                <a:moveTo>
                  <a:pt x="0" y="0"/>
                </a:moveTo>
                <a:lnTo>
                  <a:pt x="1576303" y="0"/>
                </a:lnTo>
                <a:lnTo>
                  <a:pt x="1576303" y="1576303"/>
                </a:lnTo>
                <a:lnTo>
                  <a:pt x="0" y="1576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E1C56161-AF1C-A354-C657-337A663BB901}"/>
              </a:ext>
            </a:extLst>
          </p:cNvPr>
          <p:cNvSpPr/>
          <p:nvPr/>
        </p:nvSpPr>
        <p:spPr>
          <a:xfrm>
            <a:off x="8457376" y="1653656"/>
            <a:ext cx="1135110" cy="1135110"/>
          </a:xfrm>
          <a:custGeom>
            <a:avLst/>
            <a:gdLst/>
            <a:ahLst/>
            <a:cxnLst/>
            <a:rect l="l" t="t" r="r" b="b"/>
            <a:pathLst>
              <a:path w="1135110" h="1135110">
                <a:moveTo>
                  <a:pt x="0" y="0"/>
                </a:moveTo>
                <a:lnTo>
                  <a:pt x="1135110" y="0"/>
                </a:lnTo>
                <a:lnTo>
                  <a:pt x="1135110" y="1135110"/>
                </a:lnTo>
                <a:lnTo>
                  <a:pt x="0" y="113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094530D0-026E-ACA8-8FBA-5135281C4297}"/>
              </a:ext>
            </a:extLst>
          </p:cNvPr>
          <p:cNvSpPr/>
          <p:nvPr/>
        </p:nvSpPr>
        <p:spPr>
          <a:xfrm>
            <a:off x="6349796" y="2052628"/>
            <a:ext cx="736138" cy="736138"/>
          </a:xfrm>
          <a:custGeom>
            <a:avLst/>
            <a:gdLst/>
            <a:ahLst/>
            <a:cxnLst/>
            <a:rect l="l" t="t" r="r" b="b"/>
            <a:pathLst>
              <a:path w="736138" h="736138">
                <a:moveTo>
                  <a:pt x="0" y="0"/>
                </a:moveTo>
                <a:lnTo>
                  <a:pt x="736138" y="0"/>
                </a:lnTo>
                <a:lnTo>
                  <a:pt x="736138" y="736138"/>
                </a:lnTo>
                <a:lnTo>
                  <a:pt x="0" y="736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464279-D65E-25B4-9976-0C91C4EDF9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0" y="190500"/>
            <a:ext cx="4933950" cy="925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12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EAD41-CC2A-55AD-52DD-BEE9197C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4">
            <a:extLst>
              <a:ext uri="{FF2B5EF4-FFF2-40B4-BE49-F238E27FC236}">
                <a16:creationId xmlns:a16="http://schemas.microsoft.com/office/drawing/2014/main" id="{135B2C8A-BD58-8187-F64C-293202B83343}"/>
              </a:ext>
            </a:extLst>
          </p:cNvPr>
          <p:cNvSpPr/>
          <p:nvPr/>
        </p:nvSpPr>
        <p:spPr>
          <a:xfrm>
            <a:off x="17064722" y="6139734"/>
            <a:ext cx="1576303" cy="1576303"/>
          </a:xfrm>
          <a:custGeom>
            <a:avLst/>
            <a:gdLst/>
            <a:ahLst/>
            <a:cxnLst/>
            <a:rect l="l" t="t" r="r" b="b"/>
            <a:pathLst>
              <a:path w="1576303" h="1576303">
                <a:moveTo>
                  <a:pt x="0" y="0"/>
                </a:moveTo>
                <a:lnTo>
                  <a:pt x="1576303" y="0"/>
                </a:lnTo>
                <a:lnTo>
                  <a:pt x="1576303" y="1576304"/>
                </a:lnTo>
                <a:lnTo>
                  <a:pt x="0" y="1576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34D868C2-8D33-3F91-7293-00FB36B6EDDA}"/>
              </a:ext>
            </a:extLst>
          </p:cNvPr>
          <p:cNvSpPr/>
          <p:nvPr/>
        </p:nvSpPr>
        <p:spPr>
          <a:xfrm>
            <a:off x="15697200" y="1925697"/>
            <a:ext cx="896972" cy="896972"/>
          </a:xfrm>
          <a:custGeom>
            <a:avLst/>
            <a:gdLst/>
            <a:ahLst/>
            <a:cxnLst/>
            <a:rect l="l" t="t" r="r" b="b"/>
            <a:pathLst>
              <a:path w="896972" h="896972">
                <a:moveTo>
                  <a:pt x="0" y="0"/>
                </a:moveTo>
                <a:lnTo>
                  <a:pt x="896972" y="0"/>
                </a:lnTo>
                <a:lnTo>
                  <a:pt x="896972" y="896972"/>
                </a:lnTo>
                <a:lnTo>
                  <a:pt x="0" y="896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B069EDBC-B899-B184-36FF-541A80CD21BF}"/>
              </a:ext>
            </a:extLst>
          </p:cNvPr>
          <p:cNvSpPr/>
          <p:nvPr/>
        </p:nvSpPr>
        <p:spPr>
          <a:xfrm>
            <a:off x="3364960" y="5850116"/>
            <a:ext cx="199097" cy="277611"/>
          </a:xfrm>
          <a:custGeom>
            <a:avLst/>
            <a:gdLst/>
            <a:ahLst/>
            <a:cxnLst/>
            <a:rect l="l" t="t" r="r" b="b"/>
            <a:pathLst>
              <a:path w="199097" h="277611">
                <a:moveTo>
                  <a:pt x="0" y="0"/>
                </a:moveTo>
                <a:lnTo>
                  <a:pt x="199097" y="0"/>
                </a:lnTo>
                <a:lnTo>
                  <a:pt x="199097" y="277611"/>
                </a:lnTo>
                <a:lnTo>
                  <a:pt x="0" y="2776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00D3FD5E-ED4C-F9A4-3229-7BAC42ABFFA9}"/>
              </a:ext>
            </a:extLst>
          </p:cNvPr>
          <p:cNvSpPr txBox="1"/>
          <p:nvPr/>
        </p:nvSpPr>
        <p:spPr>
          <a:xfrm>
            <a:off x="152400" y="0"/>
            <a:ext cx="19354800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54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Demographic Distribution (Gender &amp; Blood Type)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DF0508-DF88-72DF-1AC5-0135D0C53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1314050"/>
            <a:ext cx="17602200" cy="894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46975"/>
            <a:ext cx="18288000" cy="6628964"/>
            <a:chOff x="0" y="0"/>
            <a:chExt cx="4816593" cy="10837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83733"/>
            </a:xfrm>
            <a:custGeom>
              <a:avLst/>
              <a:gdLst/>
              <a:ahLst/>
              <a:cxnLst/>
              <a:rect l="l" t="t" r="r" b="b"/>
              <a:pathLst>
                <a:path w="4816592" h="1083733">
                  <a:moveTo>
                    <a:pt x="0" y="0"/>
                  </a:moveTo>
                  <a:lnTo>
                    <a:pt x="4816592" y="0"/>
                  </a:lnTo>
                  <a:lnTo>
                    <a:pt x="4816592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E8F2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816593" cy="1169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578115" y="921187"/>
            <a:ext cx="2131274" cy="2131274"/>
          </a:xfrm>
          <a:custGeom>
            <a:avLst/>
            <a:gdLst/>
            <a:ahLst/>
            <a:cxnLst/>
            <a:rect l="l" t="t" r="r" b="b"/>
            <a:pathLst>
              <a:path w="2131274" h="2131274">
                <a:moveTo>
                  <a:pt x="0" y="0"/>
                </a:moveTo>
                <a:lnTo>
                  <a:pt x="2131274" y="0"/>
                </a:lnTo>
                <a:lnTo>
                  <a:pt x="2131274" y="2131274"/>
                </a:lnTo>
                <a:lnTo>
                  <a:pt x="0" y="2131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4253147" y="-942078"/>
            <a:ext cx="8649935" cy="4961498"/>
            <a:chOff x="0" y="0"/>
            <a:chExt cx="7981950" cy="4578350"/>
          </a:xfrm>
        </p:grpSpPr>
        <p:sp>
          <p:nvSpPr>
            <p:cNvPr id="13" name="Freeform 13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t="-3328" b="-33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52600" y="4386806"/>
            <a:ext cx="595736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286BC2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8688" y="5525531"/>
            <a:ext cx="7403998" cy="4362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Tableau enabled a clear summary of patient demographics, medical outcomes, and financial insights.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Balanced data ensures reliable insights for decision-making.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74560" y="4353329"/>
            <a:ext cx="608549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286BC2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6D81FB9F-6463-DCBD-053D-601B7E9BC9F0}"/>
              </a:ext>
            </a:extLst>
          </p:cNvPr>
          <p:cNvSpPr txBox="1"/>
          <p:nvPr/>
        </p:nvSpPr>
        <p:spPr>
          <a:xfrm>
            <a:off x="9749054" y="5525531"/>
            <a:ext cx="8553694" cy="4362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Enhance diabetes care programs.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Review 2024 admission decline.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Optimize costs for obesity &amp; hypertension treatments.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Analysis provides a foundation for predictive and diagnostic 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6443896" y="2185044"/>
            <a:ext cx="15607423" cy="13022513"/>
            <a:chOff x="0" y="0"/>
            <a:chExt cx="6438437" cy="5372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38437" cy="5372100"/>
            </a:xfrm>
            <a:custGeom>
              <a:avLst/>
              <a:gdLst/>
              <a:ahLst/>
              <a:cxnLst/>
              <a:rect l="l" t="t" r="r" b="b"/>
              <a:pathLst>
                <a:path w="6438437" h="5372100">
                  <a:moveTo>
                    <a:pt x="4887767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887767" y="5372100"/>
                  </a:lnTo>
                  <a:lnTo>
                    <a:pt x="6438437" y="2686050"/>
                  </a:lnTo>
                  <a:lnTo>
                    <a:pt x="4887767" y="0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-4816353" y="-4312031"/>
            <a:ext cx="15021950" cy="13008331"/>
            <a:chOff x="0" y="0"/>
            <a:chExt cx="4282440" cy="3708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t="-3551" r="-45288" b="-84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6434371" y="-10855790"/>
            <a:ext cx="15712963" cy="13047924"/>
            <a:chOff x="0" y="0"/>
            <a:chExt cx="6469351" cy="5372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69351" cy="5372100"/>
            </a:xfrm>
            <a:custGeom>
              <a:avLst/>
              <a:gdLst/>
              <a:ahLst/>
              <a:cxnLst/>
              <a:rect l="l" t="t" r="r" b="b"/>
              <a:pathLst>
                <a:path w="6469351" h="5372100">
                  <a:moveTo>
                    <a:pt x="4918681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918681" y="5372100"/>
                  </a:lnTo>
                  <a:lnTo>
                    <a:pt x="6469351" y="2686050"/>
                  </a:lnTo>
                  <a:lnTo>
                    <a:pt x="4918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19047" y="6288324"/>
            <a:ext cx="9170290" cy="2263140"/>
            <a:chOff x="0" y="0"/>
            <a:chExt cx="12227054" cy="3017519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2227054" cy="2041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6000"/>
                </a:lnSpc>
              </a:pPr>
              <a:r>
                <a:rPr lang="en-US" sz="5000" b="1" spc="150" dirty="0">
                  <a:solidFill>
                    <a:srgbClr val="FFFFFF"/>
                  </a:solidFill>
                  <a:latin typeface="Times New Roman" panose="02020603050405020304" pitchFamily="18" charset="0"/>
                  <a:ea typeface="Fira Sans Ultra-Bold"/>
                  <a:cs typeface="Times New Roman" panose="02020603050405020304" pitchFamily="18" charset="0"/>
                  <a:sym typeface="Fira Sans Ultra-Bold"/>
                </a:rPr>
                <a:t>DIAGNOSTIC ANALYSIS OF SALES DECLINE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08987" y="2492375"/>
              <a:ext cx="8218067" cy="5251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76438" y="4693921"/>
            <a:ext cx="9170290" cy="2110740"/>
            <a:chOff x="0" y="0"/>
            <a:chExt cx="12227054" cy="2814319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2227054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0800"/>
                </a:lnSpc>
              </a:pPr>
              <a:r>
                <a:rPr lang="en-US" sz="9000" b="1" spc="270" dirty="0">
                  <a:solidFill>
                    <a:srgbClr val="000000"/>
                  </a:solidFill>
                  <a:latin typeface="Times New Roman" panose="02020603050405020304" pitchFamily="18" charset="0"/>
                  <a:ea typeface="Fira Sans Ultra-Bold"/>
                  <a:cs typeface="Times New Roman" panose="02020603050405020304" pitchFamily="18" charset="0"/>
                  <a:sym typeface="Fira Sans Ultra-Bold"/>
                </a:rPr>
                <a:t>PART - 2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08987" y="2289175"/>
              <a:ext cx="8218067" cy="5251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3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391755"/>
            <a:ext cx="6272901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1" dirty="0">
                <a:solidFill>
                  <a:srgbClr val="1836B2"/>
                </a:solidFill>
                <a:latin typeface="Times New Roman" panose="02020603050405020304" pitchFamily="18" charset="0"/>
                <a:ea typeface="Fira Sans Semi-Bold"/>
                <a:cs typeface="Times New Roman" panose="02020603050405020304" pitchFamily="18" charset="0"/>
                <a:sym typeface="Fira Sans Semi-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53158" y="659606"/>
            <a:ext cx="8443242" cy="45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5A3A7D9-9C39-210B-D886-700105180C30}"/>
              </a:ext>
            </a:extLst>
          </p:cNvPr>
          <p:cNvSpPr txBox="1"/>
          <p:nvPr/>
        </p:nvSpPr>
        <p:spPr>
          <a:xfrm>
            <a:off x="-205154" y="1385530"/>
            <a:ext cx="18493154" cy="8694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b="1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Objective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To apply descriptive and diagnostic analysis using Tableau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Summarize health and sales data to identify trends and root causes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Demonstrate ability to communicate insights visually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b="1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Goal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Conduct Descriptive Analysis: summarize patient health metrics and trends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Conduct Diagnostic Analysis: investigate sales decline causes in retail dataset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Provide insights and recommendations for decision-making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b="1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Dataset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Patient Health Dataset: heart rate, blood pressure, cholesterol levels (time-based)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Retail Sales Dataset: sales transactions by year, quarter, region, product category, and order value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Cleaned, structured, and visualized in Tableau dashboards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3144500" y="4372374"/>
            <a:ext cx="10287000" cy="1542251"/>
            <a:chOff x="0" y="0"/>
            <a:chExt cx="35832548" cy="5372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32548" cy="5372100"/>
            </a:xfrm>
            <a:custGeom>
              <a:avLst/>
              <a:gdLst/>
              <a:ahLst/>
              <a:cxnLst/>
              <a:rect l="l" t="t" r="r" b="b"/>
              <a:pathLst>
                <a:path w="35832548" h="5372100">
                  <a:moveTo>
                    <a:pt x="3428188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34281880" y="5372100"/>
                  </a:lnTo>
                  <a:lnTo>
                    <a:pt x="35832548" y="2686050"/>
                  </a:lnTo>
                  <a:lnTo>
                    <a:pt x="34281880" y="0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143000" y="647700"/>
            <a:ext cx="8534400" cy="1180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 u="none" dirty="0">
                <a:solidFill>
                  <a:srgbClr val="1836B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Total Sales per Year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6AF5836-F4D4-181B-1FE2-4780C8A47A3B}"/>
              </a:ext>
            </a:extLst>
          </p:cNvPr>
          <p:cNvSpPr txBox="1"/>
          <p:nvPr/>
        </p:nvSpPr>
        <p:spPr>
          <a:xfrm>
            <a:off x="907289" y="2019300"/>
            <a:ext cx="10886956" cy="726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4085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Sales peaked in 2018 (722,052)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4085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2017 (600,193) also showed strong performance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4085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2015 (479,856) and 2016 (459,436) were comparatively lower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4085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Indicates an overall upward trend until 2018, followed by recent decline (as seen in quarterly analysis)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4085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Confirms that the sales issue is recent, not a long-term weakness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376234-46A1-A391-924E-A711A34F4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793" y="647700"/>
            <a:ext cx="4414944" cy="93962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2963"/>
            <a:ext cx="14845523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1" dirty="0">
                <a:solidFill>
                  <a:srgbClr val="1836B2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Average Sales </a:t>
            </a:r>
          </a:p>
          <a:p>
            <a:pPr algn="l">
              <a:lnSpc>
                <a:spcPts val="7699"/>
              </a:lnSpc>
            </a:pPr>
            <a:r>
              <a:rPr lang="en-US" sz="6999" b="1" dirty="0">
                <a:solidFill>
                  <a:srgbClr val="1836B2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per Quarter of 2018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1203511" y="-2921689"/>
            <a:ext cx="8370405" cy="4779226"/>
          </a:xfrm>
          <a:custGeom>
            <a:avLst/>
            <a:gdLst/>
            <a:ahLst/>
            <a:cxnLst/>
            <a:rect l="l" t="t" r="r" b="b"/>
            <a:pathLst>
              <a:path w="8370405" h="4779226">
                <a:moveTo>
                  <a:pt x="8370404" y="0"/>
                </a:moveTo>
                <a:lnTo>
                  <a:pt x="0" y="0"/>
                </a:lnTo>
                <a:lnTo>
                  <a:pt x="0" y="4779227"/>
                </a:lnTo>
                <a:lnTo>
                  <a:pt x="8370404" y="4779227"/>
                </a:lnTo>
                <a:lnTo>
                  <a:pt x="83704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157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-5400000">
            <a:off x="-5143500" y="4372374"/>
            <a:ext cx="10287000" cy="1542251"/>
            <a:chOff x="0" y="0"/>
            <a:chExt cx="35832548" cy="5372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832548" cy="5372100"/>
            </a:xfrm>
            <a:custGeom>
              <a:avLst/>
              <a:gdLst/>
              <a:ahLst/>
              <a:cxnLst/>
              <a:rect l="l" t="t" r="r" b="b"/>
              <a:pathLst>
                <a:path w="35832548" h="5372100">
                  <a:moveTo>
                    <a:pt x="3428188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34281880" y="5372100"/>
                  </a:lnTo>
                  <a:lnTo>
                    <a:pt x="35832548" y="2686050"/>
                  </a:lnTo>
                  <a:lnTo>
                    <a:pt x="34281880" y="0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641600"/>
            <a:ext cx="10886956" cy="653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4085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Q1 had the highest average sales (252.61)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4085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Sharp drop in Q2 to 188.98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4085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Recovery in Q3 (217.77) and Q4 (230.29), but still below Q1 peak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4085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Overall downward trend line confirms weaker performance later in the year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4085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Suggests issues arose mid-year, requiring further breakdown by products, regions, or customer segments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F32F5-657F-993E-B8B2-30CEF93E1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6800" y="924039"/>
            <a:ext cx="4949999" cy="899999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15874"/>
            <a:ext cx="18288000" cy="1542251"/>
            <a:chOff x="0" y="0"/>
            <a:chExt cx="63702308" cy="5372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702307" cy="5372100"/>
            </a:xfrm>
            <a:custGeom>
              <a:avLst/>
              <a:gdLst/>
              <a:ahLst/>
              <a:cxnLst/>
              <a:rect l="l" t="t" r="r" b="b"/>
              <a:pathLst>
                <a:path w="63702307" h="5372100">
                  <a:moveTo>
                    <a:pt x="62151636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2151636" y="5372100"/>
                  </a:lnTo>
                  <a:lnTo>
                    <a:pt x="63702307" y="2686050"/>
                  </a:lnTo>
                  <a:lnTo>
                    <a:pt x="62151636" y="0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598806"/>
            <a:ext cx="15770482" cy="2247765"/>
            <a:chOff x="0" y="-573192"/>
            <a:chExt cx="21027310" cy="2997019"/>
          </a:xfrm>
        </p:grpSpPr>
        <p:sp>
          <p:nvSpPr>
            <p:cNvPr id="6" name="TextBox 6"/>
            <p:cNvSpPr txBox="1"/>
            <p:nvPr/>
          </p:nvSpPr>
          <p:spPr>
            <a:xfrm>
              <a:off x="26125" y="-573192"/>
              <a:ext cx="21001185" cy="1347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99"/>
                </a:lnSpc>
              </a:pPr>
              <a:r>
                <a:rPr lang="en-US" sz="6999" b="1" dirty="0">
                  <a:solidFill>
                    <a:srgbClr val="1836B2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Sales by Region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47552"/>
              <a:ext cx="2100118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-17062" y="1579166"/>
            <a:ext cx="11751862" cy="7976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3030" lvl="1" indent="-441515" algn="l">
              <a:lnSpc>
                <a:spcPts val="5725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Q1: West (288.8) and Central (290.1) led sales, South (252.6) moderate, East lowest (154.2)</a:t>
            </a:r>
          </a:p>
          <a:p>
            <a:pPr marL="883030" lvl="1" indent="-441515" algn="l">
              <a:lnSpc>
                <a:spcPts val="5725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Q2: Significant declines across all regions, especially Central (148.2) and South (212.5)</a:t>
            </a:r>
          </a:p>
          <a:p>
            <a:pPr marL="883030" lvl="1" indent="-441515" algn="l">
              <a:lnSpc>
                <a:spcPts val="5725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Q3: Recovery in East (235.7) &amp; West (238.1), but South (195.2) and Central (172.7) stayed weak</a:t>
            </a:r>
          </a:p>
          <a:p>
            <a:pPr marL="883030" lvl="1" indent="-441515" algn="l">
              <a:lnSpc>
                <a:spcPts val="5725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Q4: Strong comeback in South (277.5) and East (284.3), while West (203.0) and Central (167.3) lagged</a:t>
            </a:r>
          </a:p>
          <a:p>
            <a:pPr marL="883030" lvl="1" indent="-441515" algn="l">
              <a:lnSpc>
                <a:spcPts val="5725"/>
              </a:lnSpc>
              <a:buFont typeface="Arial"/>
              <a:buChar char="•"/>
            </a:pPr>
            <a:r>
              <a:rPr lang="en-US" sz="3500" b="1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Insight: </a:t>
            </a:r>
            <a:r>
              <a:rPr lang="en-US" sz="3500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Sales decline concentrated in Central and South regions; East emerged as a recovery driver in Q3–Q4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07CCEF-B6C1-49A3-5B6C-6710C604B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0820" y="676674"/>
            <a:ext cx="4745729" cy="850276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659E0-A8C0-1119-2FBE-9BD77377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CD7F6D2-E36C-AE43-E62C-4B34ABD51395}"/>
              </a:ext>
            </a:extLst>
          </p:cNvPr>
          <p:cNvGrpSpPr/>
          <p:nvPr/>
        </p:nvGrpSpPr>
        <p:grpSpPr>
          <a:xfrm rot="5400000">
            <a:off x="13144500" y="4372374"/>
            <a:ext cx="10287000" cy="1542251"/>
            <a:chOff x="0" y="0"/>
            <a:chExt cx="35832548" cy="5372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4EB650-5900-1C43-ADBC-351E052818DB}"/>
                </a:ext>
              </a:extLst>
            </p:cNvPr>
            <p:cNvSpPr/>
            <p:nvPr/>
          </p:nvSpPr>
          <p:spPr>
            <a:xfrm>
              <a:off x="0" y="0"/>
              <a:ext cx="35832548" cy="5372100"/>
            </a:xfrm>
            <a:custGeom>
              <a:avLst/>
              <a:gdLst/>
              <a:ahLst/>
              <a:cxnLst/>
              <a:rect l="l" t="t" r="r" b="b"/>
              <a:pathLst>
                <a:path w="35832548" h="5372100">
                  <a:moveTo>
                    <a:pt x="3428188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34281880" y="5372100"/>
                  </a:lnTo>
                  <a:lnTo>
                    <a:pt x="35832548" y="2686050"/>
                  </a:lnTo>
                  <a:lnTo>
                    <a:pt x="34281880" y="0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61FCFB3C-7725-4A44-8815-88C1DD5EBF45}"/>
              </a:ext>
            </a:extLst>
          </p:cNvPr>
          <p:cNvSpPr txBox="1"/>
          <p:nvPr/>
        </p:nvSpPr>
        <p:spPr>
          <a:xfrm>
            <a:off x="914400" y="190500"/>
            <a:ext cx="8534400" cy="1180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 u="none" dirty="0">
                <a:solidFill>
                  <a:srgbClr val="1836B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Sales by Category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D3014DC-F7BD-E102-CAE3-917E977D2A5D}"/>
              </a:ext>
            </a:extLst>
          </p:cNvPr>
          <p:cNvSpPr txBox="1"/>
          <p:nvPr/>
        </p:nvSpPr>
        <p:spPr>
          <a:xfrm>
            <a:off x="-33278" y="1646297"/>
            <a:ext cx="11234678" cy="7963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b="1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Furniture:</a:t>
            </a: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 Sales peaked in Q3 &amp; Q4, but steady decline from earlier quarters (Q1–Q2 lower)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b="1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Office Supplies:</a:t>
            </a: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 Consistently lowest-performing category; no significant recovery across quarters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b="1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Technology:</a:t>
            </a: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 Strongest category overall (Q1 ~540, Q4 ~470), but shows clear decline after Q1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b="1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Insight: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Sales decline largely driven by Technology drop after Q1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Furniture stable but moderate performance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Office Supplies weak → contributes less to total sales growth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9ADAFD-62C5-F5B3-2A53-7C7608701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866900"/>
            <a:ext cx="7294899" cy="758261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3997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DF209-6B41-2D13-E09F-28E7E5827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99B40AB-C701-A7A2-B472-E93C2E9685C2}"/>
              </a:ext>
            </a:extLst>
          </p:cNvPr>
          <p:cNvSpPr txBox="1"/>
          <p:nvPr/>
        </p:nvSpPr>
        <p:spPr>
          <a:xfrm>
            <a:off x="1028700" y="362963"/>
            <a:ext cx="14845523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1" dirty="0">
                <a:solidFill>
                  <a:srgbClr val="1836B2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Avg Order Value vs </a:t>
            </a:r>
          </a:p>
          <a:p>
            <a:pPr algn="l">
              <a:lnSpc>
                <a:spcPts val="7699"/>
              </a:lnSpc>
            </a:pPr>
            <a:r>
              <a:rPr lang="en-US" sz="6999" b="1" dirty="0">
                <a:solidFill>
                  <a:srgbClr val="1836B2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Order Quantity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EB9767-E448-EF6F-4791-E4E81DDDA94E}"/>
              </a:ext>
            </a:extLst>
          </p:cNvPr>
          <p:cNvSpPr/>
          <p:nvPr/>
        </p:nvSpPr>
        <p:spPr>
          <a:xfrm flipH="1">
            <a:off x="11203511" y="-2921689"/>
            <a:ext cx="8370405" cy="4779226"/>
          </a:xfrm>
          <a:custGeom>
            <a:avLst/>
            <a:gdLst/>
            <a:ahLst/>
            <a:cxnLst/>
            <a:rect l="l" t="t" r="r" b="b"/>
            <a:pathLst>
              <a:path w="8370405" h="4779226">
                <a:moveTo>
                  <a:pt x="8370404" y="0"/>
                </a:moveTo>
                <a:lnTo>
                  <a:pt x="0" y="0"/>
                </a:lnTo>
                <a:lnTo>
                  <a:pt x="0" y="4779227"/>
                </a:lnTo>
                <a:lnTo>
                  <a:pt x="8370404" y="4779227"/>
                </a:lnTo>
                <a:lnTo>
                  <a:pt x="83704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157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DC4A6AA-C3E0-A34B-7009-727DDE5E68D5}"/>
              </a:ext>
            </a:extLst>
          </p:cNvPr>
          <p:cNvGrpSpPr/>
          <p:nvPr/>
        </p:nvGrpSpPr>
        <p:grpSpPr>
          <a:xfrm rot="-5400000">
            <a:off x="-5143500" y="4372374"/>
            <a:ext cx="10287000" cy="1542251"/>
            <a:chOff x="0" y="0"/>
            <a:chExt cx="35832548" cy="53721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66B1901-1CB4-E500-80D8-0511C6E03AB8}"/>
                </a:ext>
              </a:extLst>
            </p:cNvPr>
            <p:cNvSpPr/>
            <p:nvPr/>
          </p:nvSpPr>
          <p:spPr>
            <a:xfrm>
              <a:off x="0" y="0"/>
              <a:ext cx="35832548" cy="5372100"/>
            </a:xfrm>
            <a:custGeom>
              <a:avLst/>
              <a:gdLst/>
              <a:ahLst/>
              <a:cxnLst/>
              <a:rect l="l" t="t" r="r" b="b"/>
              <a:pathLst>
                <a:path w="35832548" h="5372100">
                  <a:moveTo>
                    <a:pt x="3428188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34281880" y="5372100"/>
                  </a:lnTo>
                  <a:lnTo>
                    <a:pt x="35832548" y="2686050"/>
                  </a:lnTo>
                  <a:lnTo>
                    <a:pt x="34281880" y="0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BE1586D5-F393-32C7-BAEC-91B85320C4E5}"/>
              </a:ext>
            </a:extLst>
          </p:cNvPr>
          <p:cNvSpPr txBox="1"/>
          <p:nvPr/>
        </p:nvSpPr>
        <p:spPr>
          <a:xfrm>
            <a:off x="771126" y="2171700"/>
            <a:ext cx="11620500" cy="7976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b="1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Order Quantity:</a:t>
            </a:r>
            <a:r>
              <a:rPr lang="en-US" sz="3500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steady growth across quarters (Q1: 681 → Q4: 1,847 orders)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b="1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Average Order Value:</a:t>
            </a:r>
            <a:r>
              <a:rPr lang="en-US" sz="3500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highest in Q1 (515.8), drops in Q2 (413.9), partial recovery by Q4 (471.7)Key 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b="1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Insight: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Customers placed more orders over time but spent less per order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Sales decline tied to a shift from fewer, high-value orders to more frequent, lower-value orders</a:t>
            </a:r>
          </a:p>
          <a:p>
            <a:pPr marL="881957" lvl="1" indent="-440978" algn="l">
              <a:lnSpc>
                <a:spcPts val="5719"/>
              </a:lnSpc>
              <a:buFont typeface="Arial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Suggests issues in pricing strategy, discounts, or customer purchasing power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F3E551-34DD-BC88-ED96-F01B57674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200" y="1175701"/>
            <a:ext cx="4876800" cy="889362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4541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44776-A6C4-C97D-59A8-BCEC5235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03408E-A432-4761-2372-936130B2D19C}"/>
              </a:ext>
            </a:extLst>
          </p:cNvPr>
          <p:cNvGrpSpPr/>
          <p:nvPr/>
        </p:nvGrpSpPr>
        <p:grpSpPr>
          <a:xfrm>
            <a:off x="0" y="9515874"/>
            <a:ext cx="18288000" cy="1542251"/>
            <a:chOff x="0" y="0"/>
            <a:chExt cx="63702308" cy="5372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349B6B1-1774-165C-F7B7-9F945ED42A94}"/>
                </a:ext>
              </a:extLst>
            </p:cNvPr>
            <p:cNvSpPr/>
            <p:nvPr/>
          </p:nvSpPr>
          <p:spPr>
            <a:xfrm>
              <a:off x="0" y="0"/>
              <a:ext cx="63702307" cy="5372100"/>
            </a:xfrm>
            <a:custGeom>
              <a:avLst/>
              <a:gdLst/>
              <a:ahLst/>
              <a:cxnLst/>
              <a:rect l="l" t="t" r="r" b="b"/>
              <a:pathLst>
                <a:path w="63702307" h="5372100">
                  <a:moveTo>
                    <a:pt x="62151636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2151636" y="5372100"/>
                  </a:lnTo>
                  <a:lnTo>
                    <a:pt x="63702307" y="2686050"/>
                  </a:lnTo>
                  <a:lnTo>
                    <a:pt x="62151636" y="0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33C691B-1DDA-B17E-C7ED-400D12306E32}"/>
              </a:ext>
            </a:extLst>
          </p:cNvPr>
          <p:cNvGrpSpPr/>
          <p:nvPr/>
        </p:nvGrpSpPr>
        <p:grpSpPr>
          <a:xfrm>
            <a:off x="1028700" y="598806"/>
            <a:ext cx="15770482" cy="2334894"/>
            <a:chOff x="0" y="-573192"/>
            <a:chExt cx="21027310" cy="2997019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7492815-AC79-59B6-B766-1CA572237BE0}"/>
                </a:ext>
              </a:extLst>
            </p:cNvPr>
            <p:cNvSpPr txBox="1"/>
            <p:nvPr/>
          </p:nvSpPr>
          <p:spPr>
            <a:xfrm>
              <a:off x="26125" y="-573192"/>
              <a:ext cx="21001185" cy="12674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99"/>
                </a:lnSpc>
              </a:pPr>
              <a:r>
                <a:rPr lang="en-US" sz="6999" b="1" dirty="0">
                  <a:solidFill>
                    <a:srgbClr val="1836B2"/>
                  </a:solidFill>
                  <a:latin typeface="Fira Sans Semi-Bold"/>
                  <a:ea typeface="Fira Sans Semi-Bold"/>
                  <a:cs typeface="Fira Sans Semi-Bold"/>
                  <a:sym typeface="Fira Sans Semi-Bold"/>
                </a:rPr>
                <a:t>Dashboard 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CE55D13-92F2-107F-BFE3-E9CF972DB934}"/>
                </a:ext>
              </a:extLst>
            </p:cNvPr>
            <p:cNvSpPr txBox="1"/>
            <p:nvPr/>
          </p:nvSpPr>
          <p:spPr>
            <a:xfrm>
              <a:off x="0" y="1747552"/>
              <a:ext cx="2100118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1EEC428-5E49-5278-5C18-4A1D57580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293" y="1774419"/>
            <a:ext cx="13483414" cy="747709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9251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D001-DB49-C983-1A1E-71EA488A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9D566E-7252-BFF0-0942-A1C3BD84BDF3}"/>
              </a:ext>
            </a:extLst>
          </p:cNvPr>
          <p:cNvGrpSpPr/>
          <p:nvPr/>
        </p:nvGrpSpPr>
        <p:grpSpPr>
          <a:xfrm rot="5400000">
            <a:off x="13144500" y="4372374"/>
            <a:ext cx="10287000" cy="1542251"/>
            <a:chOff x="0" y="0"/>
            <a:chExt cx="35832548" cy="53721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035FEDB-149C-7737-0193-6D478FDAA5B0}"/>
                </a:ext>
              </a:extLst>
            </p:cNvPr>
            <p:cNvSpPr/>
            <p:nvPr/>
          </p:nvSpPr>
          <p:spPr>
            <a:xfrm>
              <a:off x="0" y="0"/>
              <a:ext cx="35832548" cy="5372100"/>
            </a:xfrm>
            <a:custGeom>
              <a:avLst/>
              <a:gdLst/>
              <a:ahLst/>
              <a:cxnLst/>
              <a:rect l="l" t="t" r="r" b="b"/>
              <a:pathLst>
                <a:path w="35832548" h="5372100">
                  <a:moveTo>
                    <a:pt x="3428188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34281880" y="5372100"/>
                  </a:lnTo>
                  <a:lnTo>
                    <a:pt x="35832548" y="2686050"/>
                  </a:lnTo>
                  <a:lnTo>
                    <a:pt x="34281880" y="0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D321FA88-1ECC-BB39-FFE7-09A6026B974A}"/>
              </a:ext>
            </a:extLst>
          </p:cNvPr>
          <p:cNvSpPr txBox="1"/>
          <p:nvPr/>
        </p:nvSpPr>
        <p:spPr>
          <a:xfrm>
            <a:off x="914400" y="190500"/>
            <a:ext cx="8534400" cy="1180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 u="none" dirty="0">
                <a:solidFill>
                  <a:srgbClr val="1836B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Recommendations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39ABE18-BB93-1885-0C6A-D138E0309406}"/>
              </a:ext>
            </a:extLst>
          </p:cNvPr>
          <p:cNvSpPr txBox="1"/>
          <p:nvPr/>
        </p:nvSpPr>
        <p:spPr>
          <a:xfrm>
            <a:off x="304800" y="1866900"/>
            <a:ext cx="16416278" cy="4308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98179" lvl="1" indent="-457200">
              <a:lnSpc>
                <a:spcPts val="5719"/>
              </a:lnSpc>
              <a:buFont typeface="Arial" panose="020B0604020202020204" pitchFamily="34" charset="0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Q2 shows the biggest dip management should investigate seasonal factors, competitor actions, or promotions missing in that period.</a:t>
            </a:r>
          </a:p>
          <a:p>
            <a:pPr marL="898179" lvl="1" indent="-457200">
              <a:lnSpc>
                <a:spcPts val="5719"/>
              </a:lnSpc>
              <a:buFont typeface="Arial" panose="020B0604020202020204" pitchFamily="34" charset="0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 Relaunch marketing campaigns or discounts for high-value Technical Products</a:t>
            </a:r>
          </a:p>
          <a:p>
            <a:pPr marL="898179" lvl="1" indent="-457200">
              <a:lnSpc>
                <a:spcPts val="5719"/>
              </a:lnSpc>
              <a:buFont typeface="Arial" panose="020B0604020202020204" pitchFamily="34" charset="0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 ⁠Provide region-specific promotions, better inventory availability, and focused sales training.</a:t>
            </a:r>
          </a:p>
          <a:p>
            <a:pPr marL="898179" lvl="1" indent="-457200">
              <a:lnSpc>
                <a:spcPts val="5719"/>
              </a:lnSpc>
              <a:buFont typeface="Arial" panose="020B0604020202020204" pitchFamily="34" charset="0"/>
              <a:buChar char="•"/>
            </a:pPr>
            <a:r>
              <a:rPr lang="en-US" sz="3500" spc="20" dirty="0">
                <a:solidFill>
                  <a:srgbClr val="000000"/>
                </a:solidFill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 ⁠Introduce bundles, upselling, and cross-selling to encourage larger baskets.</a:t>
            </a:r>
          </a:p>
        </p:txBody>
      </p:sp>
    </p:spTree>
    <p:extLst>
      <p:ext uri="{BB962C8B-B14F-4D97-AF65-F5344CB8AC3E}">
        <p14:creationId xmlns:p14="http://schemas.microsoft.com/office/powerpoint/2010/main" val="2242855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4284" y="1028700"/>
            <a:ext cx="2131274" cy="2131274"/>
          </a:xfrm>
          <a:custGeom>
            <a:avLst/>
            <a:gdLst/>
            <a:ahLst/>
            <a:cxnLst/>
            <a:rect l="l" t="t" r="r" b="b"/>
            <a:pathLst>
              <a:path w="2131274" h="2131274">
                <a:moveTo>
                  <a:pt x="0" y="0"/>
                </a:moveTo>
                <a:lnTo>
                  <a:pt x="2131274" y="0"/>
                </a:lnTo>
                <a:lnTo>
                  <a:pt x="2131274" y="2131274"/>
                </a:lnTo>
                <a:lnTo>
                  <a:pt x="0" y="2131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685978" y="1028700"/>
            <a:ext cx="4058097" cy="9258300"/>
            <a:chOff x="0" y="0"/>
            <a:chExt cx="628705" cy="14343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8705" cy="1434353"/>
            </a:xfrm>
            <a:custGeom>
              <a:avLst/>
              <a:gdLst/>
              <a:ahLst/>
              <a:cxnLst/>
              <a:rect l="l" t="t" r="r" b="b"/>
              <a:pathLst>
                <a:path w="628705" h="1434353">
                  <a:moveTo>
                    <a:pt x="209682" y="19070"/>
                  </a:moveTo>
                  <a:cubicBezTo>
                    <a:pt x="241810" y="7556"/>
                    <a:pt x="278558" y="0"/>
                    <a:pt x="314522" y="0"/>
                  </a:cubicBezTo>
                  <a:cubicBezTo>
                    <a:pt x="350488" y="0"/>
                    <a:pt x="385095" y="6476"/>
                    <a:pt x="416988" y="17990"/>
                  </a:cubicBezTo>
                  <a:cubicBezTo>
                    <a:pt x="417667" y="18350"/>
                    <a:pt x="418345" y="18350"/>
                    <a:pt x="419024" y="18710"/>
                  </a:cubicBezTo>
                  <a:cubicBezTo>
                    <a:pt x="538793" y="64765"/>
                    <a:pt x="627009" y="186379"/>
                    <a:pt x="628705" y="342308"/>
                  </a:cubicBezTo>
                  <a:lnTo>
                    <a:pt x="628705" y="1434353"/>
                  </a:lnTo>
                  <a:lnTo>
                    <a:pt x="0" y="1434353"/>
                  </a:lnTo>
                  <a:lnTo>
                    <a:pt x="0" y="343119"/>
                  </a:lnTo>
                  <a:cubicBezTo>
                    <a:pt x="1696" y="185660"/>
                    <a:pt x="88555" y="64045"/>
                    <a:pt x="209682" y="19070"/>
                  </a:cubicBezTo>
                  <a:close/>
                </a:path>
              </a:pathLst>
            </a:custGeom>
            <a:blipFill>
              <a:blip r:embed="rId4"/>
              <a:stretch>
                <a:fillRect l="-166891" r="-7553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954875" y="0"/>
            <a:ext cx="4058097" cy="8128123"/>
            <a:chOff x="0" y="0"/>
            <a:chExt cx="628705" cy="12592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8705" cy="1259259"/>
            </a:xfrm>
            <a:custGeom>
              <a:avLst/>
              <a:gdLst/>
              <a:ahLst/>
              <a:cxnLst/>
              <a:rect l="l" t="t" r="r" b="b"/>
              <a:pathLst>
                <a:path w="628705" h="1259259">
                  <a:moveTo>
                    <a:pt x="209682" y="1240190"/>
                  </a:moveTo>
                  <a:cubicBezTo>
                    <a:pt x="241914" y="1251704"/>
                    <a:pt x="278558" y="1259259"/>
                    <a:pt x="314522" y="1259259"/>
                  </a:cubicBezTo>
                  <a:cubicBezTo>
                    <a:pt x="350488" y="1259259"/>
                    <a:pt x="385095" y="1252782"/>
                    <a:pt x="416988" y="1241268"/>
                  </a:cubicBezTo>
                  <a:cubicBezTo>
                    <a:pt x="417667" y="1240909"/>
                    <a:pt x="418345" y="1240909"/>
                    <a:pt x="419024" y="1240549"/>
                  </a:cubicBezTo>
                  <a:cubicBezTo>
                    <a:pt x="538793" y="1194494"/>
                    <a:pt x="627009" y="1072880"/>
                    <a:pt x="628705" y="920840"/>
                  </a:cubicBezTo>
                  <a:lnTo>
                    <a:pt x="628705" y="0"/>
                  </a:lnTo>
                  <a:lnTo>
                    <a:pt x="0" y="0"/>
                  </a:lnTo>
                  <a:lnTo>
                    <a:pt x="0" y="920156"/>
                  </a:lnTo>
                  <a:cubicBezTo>
                    <a:pt x="1696" y="1073599"/>
                    <a:pt x="88555" y="1195214"/>
                    <a:pt x="209682" y="1240190"/>
                  </a:cubicBezTo>
                  <a:close/>
                </a:path>
              </a:pathLst>
            </a:custGeom>
            <a:blipFill>
              <a:blip r:embed="rId5"/>
              <a:stretch>
                <a:fillRect l="-15220" r="-182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953000" y="4491037"/>
            <a:ext cx="4342378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6400" y="4130871"/>
            <a:ext cx="4641309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 dirty="0">
                <a:solidFill>
                  <a:srgbClr val="84AAD8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</p:txBody>
      </p:sp>
      <p:sp>
        <p:nvSpPr>
          <p:cNvPr id="35" name="Freeform 35"/>
          <p:cNvSpPr/>
          <p:nvPr/>
        </p:nvSpPr>
        <p:spPr>
          <a:xfrm>
            <a:off x="6262746" y="3245317"/>
            <a:ext cx="2255951" cy="2131274"/>
          </a:xfrm>
          <a:custGeom>
            <a:avLst/>
            <a:gdLst/>
            <a:ahLst/>
            <a:cxnLst/>
            <a:rect l="l" t="t" r="r" b="b"/>
            <a:pathLst>
              <a:path w="603000" h="603000">
                <a:moveTo>
                  <a:pt x="0" y="0"/>
                </a:moveTo>
                <a:lnTo>
                  <a:pt x="603000" y="0"/>
                </a:lnTo>
                <a:lnTo>
                  <a:pt x="603000" y="603000"/>
                </a:lnTo>
                <a:lnTo>
                  <a:pt x="0" y="603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5983924" y="9066568"/>
            <a:ext cx="493232" cy="493232"/>
          </a:xfrm>
          <a:custGeom>
            <a:avLst/>
            <a:gdLst/>
            <a:ahLst/>
            <a:cxnLst/>
            <a:rect l="l" t="t" r="r" b="b"/>
            <a:pathLst>
              <a:path w="493232" h="493232">
                <a:moveTo>
                  <a:pt x="0" y="0"/>
                </a:moveTo>
                <a:lnTo>
                  <a:pt x="493232" y="0"/>
                </a:lnTo>
                <a:lnTo>
                  <a:pt x="493232" y="493232"/>
                </a:lnTo>
                <a:lnTo>
                  <a:pt x="0" y="493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2a49b30-5ae9-44bb-8f34-b484f2e7eb2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3C0F0A2CC2E34297530D76F9C588A9" ma:contentTypeVersion="11" ma:contentTypeDescription="Create a new document." ma:contentTypeScope="" ma:versionID="8db9205854f2fc653ea7873eab756142">
  <xsd:schema xmlns:xsd="http://www.w3.org/2001/XMLSchema" xmlns:xs="http://www.w3.org/2001/XMLSchema" xmlns:p="http://schemas.microsoft.com/office/2006/metadata/properties" xmlns:ns3="f2a49b30-5ae9-44bb-8f34-b484f2e7eb2f" targetNamespace="http://schemas.microsoft.com/office/2006/metadata/properties" ma:root="true" ma:fieldsID="81597d49a06ffa82c73fbd84d1ca5b57" ns3:_="">
    <xsd:import namespace="f2a49b30-5ae9-44bb-8f34-b484f2e7eb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49b30-5ae9-44bb-8f34-b484f2e7eb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1F7760-0066-4620-98EF-5A1B69E095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6B862D-7769-4320-84E5-888231EE9736}">
  <ds:schemaRefs>
    <ds:schemaRef ds:uri="http://schemas.microsoft.com/office/2006/documentManagement/types"/>
    <ds:schemaRef ds:uri="http://schemas.openxmlformats.org/package/2006/metadata/core-properties"/>
    <ds:schemaRef ds:uri="f2a49b30-5ae9-44bb-8f34-b484f2e7eb2f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F49F2D4-4334-4697-9045-3D7B0123F9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a49b30-5ae9-44bb-8f34-b484f2e7eb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1217</Words>
  <Application>Microsoft Office PowerPoint</Application>
  <PresentationFormat>Custom</PresentationFormat>
  <Paragraphs>130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Aptos</vt:lpstr>
      <vt:lpstr>Calibri (Body)</vt:lpstr>
      <vt:lpstr>Fira Sans</vt:lpstr>
      <vt:lpstr>Fira Sans Medium</vt:lpstr>
      <vt:lpstr>Fira Sans Semi-Bold</vt:lpstr>
      <vt:lpstr>Poppins Bold</vt:lpstr>
      <vt:lpstr>Times New Roman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Modern Medical HealthCare Presentation</dc:title>
  <dc:creator>Shashank Desai</dc:creator>
  <cp:lastModifiedBy>Sandesh Dhakal</cp:lastModifiedBy>
  <cp:revision>6</cp:revision>
  <dcterms:created xsi:type="dcterms:W3CDTF">2006-08-16T00:00:00Z</dcterms:created>
  <dcterms:modified xsi:type="dcterms:W3CDTF">2026-01-02T23:19:54Z</dcterms:modified>
  <dc:identifier>DAGyg21J3Fw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0x010100263C0F0A2CC2E34297530D76F9C588A9</vt:lpwstr>
  </property>
</Properties>
</file>